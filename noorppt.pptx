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66" r:id="rId3"/>
    <p:sldId id="267" r:id="rId4"/>
    <p:sldId id="284" r:id="rId5"/>
    <p:sldId id="268" r:id="rId6"/>
    <p:sldId id="270" r:id="rId7"/>
    <p:sldId id="271" r:id="rId8"/>
    <p:sldId id="272" r:id="rId9"/>
    <p:sldId id="282" r:id="rId10"/>
    <p:sldId id="286" r:id="rId11"/>
    <p:sldId id="278" r:id="rId12"/>
    <p:sldId id="279" r:id="rId13"/>
    <p:sldId id="280" r:id="rId14"/>
    <p:sldId id="281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DBA"/>
    <a:srgbClr val="080F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345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3637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3573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4039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8578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091173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860223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286353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52241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618512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399504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5310972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31956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361948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558190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9551320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5236388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3332685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072859450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118477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03170544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2197632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733808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29580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92133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9597308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40239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October 22,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1575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Thursday, October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70226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October 22,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35447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Thursday, October 22,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4296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04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</p:sldLayoutIdLst>
  <p:transition spd="slow">
    <p:wipe/>
  </p:transition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3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20.jpeg" /><Relationship Id="rId5" Type="http://schemas.openxmlformats.org/officeDocument/2006/relationships/image" Target="../media/image19.jpeg" /><Relationship Id="rId4" Type="http://schemas.openxmlformats.org/officeDocument/2006/relationships/image" Target="../media/image18.jpe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30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3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 /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3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3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 /><Relationship Id="rId2" Type="http://schemas.openxmlformats.org/officeDocument/2006/relationships/image" Target="../media/image26.jpeg" /><Relationship Id="rId1" Type="http://schemas.openxmlformats.org/officeDocument/2006/relationships/slideLayout" Target="../slideLayouts/slideLayout3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 /><Relationship Id="rId1" Type="http://schemas.openxmlformats.org/officeDocument/2006/relationships/slideLayout" Target="../slideLayouts/slideLayout3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 /><Relationship Id="rId1" Type="http://schemas.openxmlformats.org/officeDocument/2006/relationships/slideLayout" Target="../slideLayouts/slideLayout3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 /><Relationship Id="rId1" Type="http://schemas.openxmlformats.org/officeDocument/2006/relationships/slideLayout" Target="../slideLayouts/slideLayout3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 /><Relationship Id="rId1" Type="http://schemas.openxmlformats.org/officeDocument/2006/relationships/slideLayout" Target="../slideLayouts/slideLayout3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 /><Relationship Id="rId1" Type="http://schemas.openxmlformats.org/officeDocument/2006/relationships/slideLayout" Target="../slideLayouts/slideLayout3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3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 /><Relationship Id="rId1" Type="http://schemas.openxmlformats.org/officeDocument/2006/relationships/slideLayout" Target="../slideLayouts/slideLayout3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898764-A69B-E52E-ADCF-AB1F755B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85521" cy="6857999"/>
          </a:xfrm>
          <a:prstGeom prst="rect">
            <a:avLst/>
          </a:prstGeom>
        </p:spPr>
      </p:pic>
      <p:sp>
        <p:nvSpPr>
          <p:cNvPr id="10" name="Title">
            <a:extLst>
              <a:ext uri="{FF2B5EF4-FFF2-40B4-BE49-F238E27FC236}">
                <a16:creationId xmlns:a16="http://schemas.microsoft.com/office/drawing/2014/main" id="{C348DC87-B530-B543-A9EA-676C6E5C85E3}"/>
              </a:ext>
            </a:extLst>
          </p:cNvPr>
          <p:cNvSpPr txBox="1">
            <a:spLocks/>
          </p:cNvSpPr>
          <p:nvPr/>
        </p:nvSpPr>
        <p:spPr>
          <a:xfrm>
            <a:off x="448055" y="604890"/>
            <a:ext cx="6994370" cy="165478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i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i="0">
                <a:latin typeface="Aptos Display"/>
              </a:rPr>
              <a:t>Display </a:t>
            </a:r>
            <a:endParaRPr lang="en-US" sz="8800"/>
          </a:p>
          <a:p>
            <a:r>
              <a:rPr lang="en-US" sz="8800" b="1" i="0">
                <a:solidFill>
                  <a:srgbClr val="0070C0"/>
                </a:solidFill>
                <a:latin typeface="Aptos Display"/>
              </a:rPr>
              <a:t>Devices</a:t>
            </a:r>
            <a:endParaRPr lang="en-US" sz="8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D9F09-7BC4-2413-161A-4FC3EAC0C64E}"/>
              </a:ext>
            </a:extLst>
          </p:cNvPr>
          <p:cNvSpPr txBox="1"/>
          <p:nvPr/>
        </p:nvSpPr>
        <p:spPr>
          <a:xfrm>
            <a:off x="445595" y="2609213"/>
            <a:ext cx="820510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>
                <a:solidFill>
                  <a:srgbClr val="4E9DBA"/>
                </a:solidFill>
                <a:latin typeface="Aptos Display"/>
              </a:rPr>
              <a:t>Types, Technologies and </a:t>
            </a:r>
            <a:r>
              <a:rPr lang="en-IN" sz="2800" err="1">
                <a:solidFill>
                  <a:srgbClr val="4E9DBA"/>
                </a:solidFill>
                <a:latin typeface="Aptos Display"/>
              </a:rPr>
              <a:t>real world</a:t>
            </a:r>
            <a:r>
              <a:rPr lang="en-IN" sz="2800">
                <a:solidFill>
                  <a:srgbClr val="4E9DBA"/>
                </a:solidFill>
                <a:latin typeface="Aptos Display"/>
              </a:rPr>
              <a:t> applications</a:t>
            </a:r>
            <a:endParaRPr lang="en-US" sz="2800">
              <a:solidFill>
                <a:srgbClr val="4E9DBA"/>
              </a:solidFill>
              <a:latin typeface="Aptos Display"/>
              <a:ea typeface="Source Sans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668283-2EEA-22B5-749F-7576DBDAC820}"/>
              </a:ext>
            </a:extLst>
          </p:cNvPr>
          <p:cNvSpPr txBox="1"/>
          <p:nvPr/>
        </p:nvSpPr>
        <p:spPr>
          <a:xfrm>
            <a:off x="225778" y="5797478"/>
            <a:ext cx="474133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Presented by: </a:t>
            </a:r>
            <a:r>
              <a:rPr lang="en-IN" err="1"/>
              <a:t>nowreen</a:t>
            </a:r>
            <a:r>
              <a:rPr lang="en-IN"/>
              <a:t> </a:t>
            </a:r>
            <a:r>
              <a:rPr lang="en-IN" err="1"/>
              <a:t>naaz</a:t>
            </a:r>
            <a:r>
              <a:rPr lang="en-IN"/>
              <a:t>, 2606010</a:t>
            </a:r>
            <a:endParaRPr lang="en-IN">
              <a:ea typeface="Source Sans Pro"/>
            </a:endParaRPr>
          </a:p>
          <a:p>
            <a:pPr algn="l"/>
            <a:r>
              <a:rPr lang="en-IN"/>
              <a:t>BCA | Amar Singh college</a:t>
            </a:r>
          </a:p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011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59B143-2907-D62B-9763-4BC730E60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4" y="40934"/>
            <a:ext cx="12151035" cy="6740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837711-25B6-5CDC-B548-C4AE25FEF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561" y="4381967"/>
            <a:ext cx="2279879" cy="18754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7DF90D-2730-17C6-0433-AB6E11C8EA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377" y="4425099"/>
            <a:ext cx="2587652" cy="18646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6A5619-57C2-95B5-17CC-582B20B9A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817" y="4385819"/>
            <a:ext cx="2517986" cy="1867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50063-6EAE-7E32-35DC-FB021A7503E2}"/>
              </a:ext>
            </a:extLst>
          </p:cNvPr>
          <p:cNvSpPr txBox="1"/>
          <p:nvPr/>
        </p:nvSpPr>
        <p:spPr>
          <a:xfrm>
            <a:off x="2531134" y="491705"/>
            <a:ext cx="715704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Aptos Display"/>
                <a:ea typeface="Source Sans Pro"/>
              </a:rPr>
              <a:t>What are</a:t>
            </a:r>
            <a:r>
              <a:rPr lang="en-US" sz="4800">
                <a:latin typeface="Aptos Display"/>
                <a:ea typeface="Source Sans Pro"/>
              </a:rPr>
              <a:t> </a:t>
            </a:r>
            <a:r>
              <a:rPr lang="en-US" sz="4800" b="1">
                <a:solidFill>
                  <a:srgbClr val="0070C0"/>
                </a:solidFill>
                <a:latin typeface="Aptos Display"/>
                <a:ea typeface="Source Sans Pro"/>
              </a:rPr>
              <a:t>Display Devices?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1405D-4DCB-78BF-E4AF-AC9A23944352}"/>
              </a:ext>
            </a:extLst>
          </p:cNvPr>
          <p:cNvSpPr txBox="1"/>
          <p:nvPr/>
        </p:nvSpPr>
        <p:spPr>
          <a:xfrm>
            <a:off x="2266950" y="22288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7139A-366D-8579-FD91-06A20BB255FC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7E4C0-3B93-C1E8-C33A-9111C6CAD819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18CD9D-6538-182B-558A-7EB78F61BF81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2C356-C79C-191B-6E36-A5BB1059120A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0AD9F-AD35-8604-CF6F-E8687E9FAB23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4D97A-0DD6-1EF6-4F86-2E4DC1428CCB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1F19A8-9621-A074-B769-55B216DF146C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F656B-0CF7-0CBC-9765-5B92C1AB6A82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3A2A85-46D3-AF26-87AF-1224A7CF00C1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FD14C7-131C-4C1C-A3DE-375DF4D16BE6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592031-B5FB-15DA-8BC6-BEDA774404FB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1750F5-C951-FA11-1254-7E698DF213DE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F211B5-B95B-178F-8E0B-EAD57960BFA5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E0CB5-9A97-B270-D002-B51F56D8CFC9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6E7FE5-B0D0-BA77-32DC-3C73557DF721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F1FA11-0399-9BBE-C38C-881137AE040A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002E92-372E-35EC-9C19-03B4619C93D7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43DC60-FA6C-46E8-5181-C942BEA2A060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3FFC14-69BD-9CDC-5B3C-90ED34F2CEDC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64E94F-30CD-B549-B375-18C385334252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AC3F1-5E8F-3DFF-80F7-6FEBDCEE4DEE}"/>
              </a:ext>
            </a:extLst>
          </p:cNvPr>
          <p:cNvSpPr txBox="1"/>
          <p:nvPr/>
        </p:nvSpPr>
        <p:spPr>
          <a:xfrm>
            <a:off x="5443027" y="1931588"/>
            <a:ext cx="1828800" cy="182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0B5504-9F95-D7E0-0650-EC4ABA45A1DD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41922E-1649-06B5-3814-ADE6453D558A}"/>
              </a:ext>
            </a:extLst>
          </p:cNvPr>
          <p:cNvSpPr txBox="1"/>
          <p:nvPr/>
        </p:nvSpPr>
        <p:spPr>
          <a:xfrm>
            <a:off x="5437085" y="251385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3200">
              <a:latin typeface="Aptos Display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E207B1-E377-A797-7708-A47099155086}"/>
              </a:ext>
            </a:extLst>
          </p:cNvPr>
          <p:cNvSpPr txBox="1"/>
          <p:nvPr/>
        </p:nvSpPr>
        <p:spPr>
          <a:xfrm>
            <a:off x="5437085" y="2513857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400">
              <a:latin typeface="Aptos Display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68A938-95D2-4A5D-9971-1C9CB1107FEC}"/>
              </a:ext>
            </a:extLst>
          </p:cNvPr>
          <p:cNvSpPr txBox="1"/>
          <p:nvPr/>
        </p:nvSpPr>
        <p:spPr>
          <a:xfrm>
            <a:off x="5437085" y="2513857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400">
              <a:latin typeface="Aptos Display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2DC136-E593-8035-E5CA-0EB55A29C0B1}"/>
              </a:ext>
            </a:extLst>
          </p:cNvPr>
          <p:cNvSpPr txBox="1"/>
          <p:nvPr/>
        </p:nvSpPr>
        <p:spPr>
          <a:xfrm>
            <a:off x="1058910" y="1286194"/>
            <a:ext cx="10321021" cy="27483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/>
              <a:t>A display device is an output device that presents information from a computer or another electronic system in a visual form, such as text, pictures, graphics, and video.</a:t>
            </a:r>
            <a:endParaRPr lang="en-IN" sz="2800">
              <a:ea typeface="Source Sans Pro"/>
            </a:endParaRPr>
          </a:p>
          <a:p>
            <a:pPr algn="ctr"/>
            <a:r>
              <a:rPr lang="en-IN" sz="2000" b="1">
                <a:solidFill>
                  <a:srgbClr val="00B0F0"/>
                </a:solidFill>
              </a:rPr>
              <a:t>In simple words</a:t>
            </a:r>
            <a:endParaRPr lang="en-IN" sz="2000" b="1">
              <a:solidFill>
                <a:srgbClr val="00B0F0"/>
              </a:solidFill>
              <a:ea typeface="Source Sans Pro"/>
            </a:endParaRPr>
          </a:p>
          <a:p>
            <a:pPr algn="ctr"/>
            <a:r>
              <a:rPr lang="en-IN" sz="2000" b="1">
                <a:solidFill>
                  <a:srgbClr val="00B0F0"/>
                </a:solidFill>
              </a:rPr>
              <a:t>Computer processes information → display device shows you the result.</a:t>
            </a:r>
            <a:endParaRPr lang="en-US" sz="2000" b="1">
              <a:solidFill>
                <a:srgbClr val="00B0F0"/>
              </a:solidFill>
              <a:ea typeface="Source Sans Pro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811760-138F-95E6-FE87-879AB0ED32D1}"/>
              </a:ext>
            </a:extLst>
          </p:cNvPr>
          <p:cNvSpPr txBox="1"/>
          <p:nvPr/>
        </p:nvSpPr>
        <p:spPr>
          <a:xfrm>
            <a:off x="585664" y="6202147"/>
            <a:ext cx="180957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800">
                <a:latin typeface="Aptos Display"/>
              </a:rPr>
              <a:t>monitors</a:t>
            </a:r>
            <a:endParaRPr lang="en-US" sz="2800">
              <a:latin typeface="Aptos Display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6AC03-3A87-37BD-8140-5E4CE5F3974C}"/>
              </a:ext>
            </a:extLst>
          </p:cNvPr>
          <p:cNvSpPr txBox="1"/>
          <p:nvPr/>
        </p:nvSpPr>
        <p:spPr>
          <a:xfrm>
            <a:off x="3363383" y="624895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latin typeface="Aptos Display"/>
                <a:ea typeface="Source Sans Pro"/>
              </a:rPr>
              <a:t>smartphones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66516A-EF07-3A22-0480-80AF5AAA2F6B}"/>
              </a:ext>
            </a:extLst>
          </p:cNvPr>
          <p:cNvSpPr txBox="1"/>
          <p:nvPr/>
        </p:nvSpPr>
        <p:spPr>
          <a:xfrm>
            <a:off x="6226925" y="6243138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ptos Display"/>
                <a:ea typeface="Source Sans Pro"/>
              </a:rPr>
              <a:t>Laptop screens</a:t>
            </a:r>
            <a:endParaRPr lang="en-US" sz="2800">
              <a:latin typeface="Aptos Display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DE0332-BD50-8ED5-A985-B5095074DA8B}"/>
              </a:ext>
            </a:extLst>
          </p:cNvPr>
          <p:cNvSpPr txBox="1"/>
          <p:nvPr/>
        </p:nvSpPr>
        <p:spPr>
          <a:xfrm>
            <a:off x="9649348" y="6195418"/>
            <a:ext cx="27863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latin typeface="Aptos Display"/>
                <a:ea typeface="Source Sans Pro"/>
              </a:rPr>
              <a:t>projectors</a:t>
            </a:r>
            <a:endParaRPr lang="en-US" sz="2800">
              <a:latin typeface="Aptos Display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183110-7BB6-A6A0-1FAF-731D2C3AE6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06" y="4428951"/>
            <a:ext cx="1959393" cy="18677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27727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8" grpId="0"/>
      <p:bldP spid="40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FC3C4B-F5D6-A3A2-D718-FAE4EEEFEC8C}"/>
              </a:ext>
            </a:extLst>
          </p:cNvPr>
          <p:cNvSpPr txBox="1"/>
          <p:nvPr/>
        </p:nvSpPr>
        <p:spPr>
          <a:xfrm>
            <a:off x="5181600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A2919-9940-A4FA-B0FD-7336D3BCA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0" r="6980"/>
          <a:stretch/>
        </p:blipFill>
        <p:spPr>
          <a:xfrm>
            <a:off x="-1" y="-1"/>
            <a:ext cx="12192012" cy="6872386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A2F472-624B-5D3C-5B80-CE75C822D740}"/>
              </a:ext>
            </a:extLst>
          </p:cNvPr>
          <p:cNvSpPr txBox="1"/>
          <p:nvPr/>
        </p:nvSpPr>
        <p:spPr>
          <a:xfrm>
            <a:off x="3535552" y="277962"/>
            <a:ext cx="649569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Aptos Display"/>
                <a:ea typeface="Source Sans Pro"/>
              </a:rPr>
              <a:t>How do they </a:t>
            </a:r>
            <a:r>
              <a:rPr lang="en-US" sz="4800" b="1">
                <a:solidFill>
                  <a:srgbClr val="0070C0"/>
                </a:solidFill>
                <a:latin typeface="Aptos Display"/>
                <a:ea typeface="Source Sans Pro"/>
              </a:rPr>
              <a:t>work?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2F3B4C-D0DF-E3DA-D816-AF9F55E63650}"/>
              </a:ext>
            </a:extLst>
          </p:cNvPr>
          <p:cNvGrpSpPr/>
          <p:nvPr/>
        </p:nvGrpSpPr>
        <p:grpSpPr>
          <a:xfrm>
            <a:off x="4191457" y="1388215"/>
            <a:ext cx="3835878" cy="3979333"/>
            <a:chOff x="4349608" y="1402592"/>
            <a:chExt cx="3835878" cy="397933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C3A64E3-4878-A8C8-1D12-FB8844D88704}"/>
                </a:ext>
              </a:extLst>
            </p:cNvPr>
            <p:cNvSpPr/>
            <p:nvPr/>
          </p:nvSpPr>
          <p:spPr>
            <a:xfrm>
              <a:off x="4868494" y="1402592"/>
              <a:ext cx="2794000" cy="3979333"/>
            </a:xfrm>
            <a:prstGeom prst="roundRect">
              <a:avLst/>
            </a:prstGeom>
            <a:solidFill>
              <a:srgbClr val="080F1C"/>
            </a:solidFill>
            <a:ln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B83C3A-AC1D-56B5-3C33-405BD9A18C49}"/>
                </a:ext>
              </a:extLst>
            </p:cNvPr>
            <p:cNvSpPr txBox="1"/>
            <p:nvPr/>
          </p:nvSpPr>
          <p:spPr>
            <a:xfrm>
              <a:off x="4349608" y="2487283"/>
              <a:ext cx="3835878" cy="144655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4400" b="1">
                  <a:latin typeface="Source Sans Pro"/>
                  <a:ea typeface="Source Sans Pro"/>
                </a:rPr>
                <a:t>Display connection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660FF6-B00D-C5E9-38F0-48526E29CA21}"/>
                </a:ext>
              </a:extLst>
            </p:cNvPr>
            <p:cNvSpPr txBox="1"/>
            <p:nvPr/>
          </p:nvSpPr>
          <p:spPr>
            <a:xfrm>
              <a:off x="4928987" y="4424250"/>
              <a:ext cx="2685690" cy="830997"/>
            </a:xfrm>
            <a:prstGeom prst="rect">
              <a:avLst/>
            </a:prstGeom>
            <a:solidFill>
              <a:srgbClr val="080F1C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>
                  <a:solidFill>
                    <a:srgbClr val="00B0F0"/>
                  </a:solidFill>
                  <a:ea typeface="Source Sans Pro"/>
                </a:rPr>
                <a:t>Carries image information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A4D90D-5FB1-44C2-2832-1D369EBF8D2F}"/>
              </a:ext>
            </a:extLst>
          </p:cNvPr>
          <p:cNvGrpSpPr/>
          <p:nvPr/>
        </p:nvGrpSpPr>
        <p:grpSpPr>
          <a:xfrm>
            <a:off x="8538620" y="1383421"/>
            <a:ext cx="3922143" cy="3975818"/>
            <a:chOff x="8581752" y="1397798"/>
            <a:chExt cx="3922143" cy="397581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B963021-2DBA-4791-F84C-07222F3C12AB}"/>
                </a:ext>
              </a:extLst>
            </p:cNvPr>
            <p:cNvSpPr/>
            <p:nvPr/>
          </p:nvSpPr>
          <p:spPr>
            <a:xfrm>
              <a:off x="9120358" y="1397798"/>
              <a:ext cx="2841284" cy="3975818"/>
            </a:xfrm>
            <a:prstGeom prst="roundRect">
              <a:avLst/>
            </a:prstGeom>
            <a:solidFill>
              <a:srgbClr val="080F1C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C0C7A6-4504-C2A6-B1B1-2848EB828B93}"/>
                </a:ext>
              </a:extLst>
            </p:cNvPr>
            <p:cNvSpPr txBox="1"/>
            <p:nvPr/>
          </p:nvSpPr>
          <p:spPr>
            <a:xfrm>
              <a:off x="8581752" y="2232161"/>
              <a:ext cx="3922143" cy="1908215"/>
            </a:xfrm>
            <a:prstGeom prst="hexagon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4400" b="1">
                  <a:latin typeface="Source Sans Pro"/>
                  <a:ea typeface="Source Sans Pro"/>
                </a:rPr>
                <a:t>Display </a:t>
              </a:r>
              <a:endParaRPr lang="en-US" sz="4400">
                <a:latin typeface="Source Sans Pro"/>
                <a:ea typeface="Source Sans Pro"/>
              </a:endParaRPr>
            </a:p>
            <a:p>
              <a:pPr algn="ctr"/>
              <a:r>
                <a:rPr lang="en-US" sz="4400" b="1">
                  <a:latin typeface="Source Sans Pro"/>
                  <a:ea typeface="Source Sans Pro"/>
                </a:rPr>
                <a:t>Device</a:t>
              </a:r>
              <a:endParaRPr lang="en-US" sz="4400">
                <a:latin typeface="Source Sans Pro"/>
                <a:ea typeface="Source Sans Pro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0DEE9B-9574-4570-8822-B7E9A7FA54BE}"/>
                </a:ext>
              </a:extLst>
            </p:cNvPr>
            <p:cNvSpPr txBox="1"/>
            <p:nvPr/>
          </p:nvSpPr>
          <p:spPr>
            <a:xfrm>
              <a:off x="9103621" y="4357868"/>
              <a:ext cx="2872598" cy="830997"/>
            </a:xfrm>
            <a:prstGeom prst="rect">
              <a:avLst/>
            </a:prstGeom>
            <a:solidFill>
              <a:srgbClr val="080F1C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>
                  <a:solidFill>
                    <a:srgbClr val="00B0F0"/>
                  </a:solidFill>
                  <a:ea typeface="Source Sans Pro"/>
                </a:rPr>
                <a:t>Shows text, images and video</a:t>
              </a:r>
              <a:endParaRPr lang="en-US" sz="2400">
                <a:solidFill>
                  <a:srgbClr val="00B0F0"/>
                </a:solidFill>
              </a:endParaRPr>
            </a:p>
          </p:txBody>
        </p:sp>
        <p:sp>
          <p:nvSpPr>
            <p:cNvPr id="20" name="Moon 19">
              <a:extLst>
                <a:ext uri="{FF2B5EF4-FFF2-40B4-BE49-F238E27FC236}">
                  <a16:creationId xmlns:a16="http://schemas.microsoft.com/office/drawing/2014/main" id="{9D6EF623-78F7-75B7-AA18-40FAD5F2EFC9}"/>
                </a:ext>
              </a:extLst>
            </p:cNvPr>
            <p:cNvSpPr/>
            <p:nvPr/>
          </p:nvSpPr>
          <p:spPr>
            <a:xfrm>
              <a:off x="10162957" y="1968780"/>
              <a:ext cx="567446" cy="551234"/>
            </a:xfrm>
            <a:prstGeom prst="moon">
              <a:avLst/>
            </a:prstGeom>
            <a:solidFill>
              <a:srgbClr val="080F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43D9B3-D6E6-0417-29EC-03024C66F6EC}"/>
              </a:ext>
            </a:extLst>
          </p:cNvPr>
          <p:cNvGrpSpPr/>
          <p:nvPr/>
        </p:nvGrpSpPr>
        <p:grpSpPr>
          <a:xfrm>
            <a:off x="571731" y="1407451"/>
            <a:ext cx="2849470" cy="4042790"/>
            <a:chOff x="614863" y="1464961"/>
            <a:chExt cx="2849470" cy="404279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722905E7-39D4-CFF7-4DD0-050ACF68DC49}"/>
                </a:ext>
              </a:extLst>
            </p:cNvPr>
            <p:cNvSpPr/>
            <p:nvPr/>
          </p:nvSpPr>
          <p:spPr>
            <a:xfrm>
              <a:off x="614863" y="1464961"/>
              <a:ext cx="2849470" cy="4042790"/>
            </a:xfrm>
            <a:prstGeom prst="roundRect">
              <a:avLst/>
            </a:prstGeom>
            <a:solidFill>
              <a:srgbClr val="080F1C"/>
            </a:solidFill>
            <a:ln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540AAB-1CE0-A3DB-4760-E02ADD63060B}"/>
                </a:ext>
              </a:extLst>
            </p:cNvPr>
            <p:cNvSpPr txBox="1"/>
            <p:nvPr/>
          </p:nvSpPr>
          <p:spPr>
            <a:xfrm>
              <a:off x="620366" y="2474434"/>
              <a:ext cx="2743200" cy="1754326"/>
            </a:xfrm>
            <a:prstGeom prst="rect">
              <a:avLst/>
            </a:prstGeom>
            <a:solidFill>
              <a:srgbClr val="080F1C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600" b="1">
                  <a:latin typeface="Source Sans Pro"/>
                  <a:ea typeface="Source Sans Pro"/>
                  <a:cs typeface="Calibri"/>
                </a:rPr>
                <a:t>Computer / processing uni</a:t>
              </a:r>
              <a:r>
                <a:rPr lang="en-US" sz="3600" b="1">
                  <a:latin typeface="Source Sans Pro"/>
                  <a:ea typeface="Source Sans Pro"/>
                </a:rPr>
                <a:t>t</a:t>
              </a:r>
              <a:endParaRPr lang="en-US" sz="3600">
                <a:latin typeface="Source Sans Pro"/>
                <a:ea typeface="Source Sans Pro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85120F-65E2-0C3B-5D88-C1C4A10C13AD}"/>
                </a:ext>
              </a:extLst>
            </p:cNvPr>
            <p:cNvSpPr txBox="1"/>
            <p:nvPr/>
          </p:nvSpPr>
          <p:spPr>
            <a:xfrm>
              <a:off x="804520" y="4590046"/>
              <a:ext cx="2283126" cy="830997"/>
            </a:xfrm>
            <a:prstGeom prst="rect">
              <a:avLst/>
            </a:prstGeom>
            <a:solidFill>
              <a:srgbClr val="080F1C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>
                  <a:solidFill>
                    <a:srgbClr val="00B0F0"/>
                  </a:solidFill>
                  <a:ea typeface="Source Sans Pro"/>
                </a:rPr>
                <a:t>Processes</a:t>
              </a:r>
            </a:p>
            <a:p>
              <a:pPr algn="ctr"/>
              <a:r>
                <a:rPr lang="en-US" sz="2400">
                  <a:solidFill>
                    <a:srgbClr val="00B0F0"/>
                  </a:solidFill>
                  <a:ea typeface="Source Sans Pro"/>
                </a:rPr>
                <a:t> data</a:t>
              </a:r>
            </a:p>
          </p:txBody>
        </p:sp>
      </p:grp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D56976F4-0C05-C50C-B019-F8A76DE93E2F}"/>
              </a:ext>
            </a:extLst>
          </p:cNvPr>
          <p:cNvSpPr/>
          <p:nvPr/>
        </p:nvSpPr>
        <p:spPr>
          <a:xfrm>
            <a:off x="3701711" y="3294861"/>
            <a:ext cx="893231" cy="632297"/>
          </a:xfrm>
          <a:prstGeom prst="stripedRightArrow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7C65DC7D-3E66-D058-2510-676956C44034}"/>
              </a:ext>
            </a:extLst>
          </p:cNvPr>
          <p:cNvSpPr/>
          <p:nvPr/>
        </p:nvSpPr>
        <p:spPr>
          <a:xfrm>
            <a:off x="7914582" y="3291496"/>
            <a:ext cx="843369" cy="632604"/>
          </a:xfrm>
          <a:prstGeom prst="stripedRightArrow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A8FA51-A938-5B90-A6F2-1BC0EFD4F094}"/>
              </a:ext>
            </a:extLst>
          </p:cNvPr>
          <p:cNvSpPr txBox="1"/>
          <p:nvPr/>
        </p:nvSpPr>
        <p:spPr>
          <a:xfrm>
            <a:off x="1155999" y="5628276"/>
            <a:ext cx="10271884" cy="9541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Example</a:t>
            </a:r>
            <a:r>
              <a:rPr lang="en-US" sz="2800">
                <a:latin typeface="Calibri"/>
                <a:ea typeface="Calibri"/>
                <a:cs typeface="Calibri"/>
              </a:rPr>
              <a:t>: when you open a </a:t>
            </a:r>
            <a:r>
              <a:rPr lang="en-US" sz="2800" err="1">
                <a:latin typeface="Calibri"/>
                <a:ea typeface="Calibri"/>
                <a:cs typeface="Calibri"/>
              </a:rPr>
              <a:t>powerpoint</a:t>
            </a:r>
            <a:r>
              <a:rPr lang="en-US" sz="2800">
                <a:latin typeface="Calibri"/>
                <a:ea typeface="Calibri"/>
                <a:cs typeface="Calibri"/>
              </a:rPr>
              <a:t>, the computer processes the slide </a:t>
            </a:r>
            <a:r>
              <a:rPr lang="en-US" sz="2800" err="1">
                <a:latin typeface="Calibri"/>
                <a:ea typeface="Calibri"/>
                <a:cs typeface="Calibri"/>
              </a:rPr>
              <a:t>information</a:t>
            </a:r>
            <a:r>
              <a:rPr lang="en-US" sz="2800">
                <a:latin typeface="Calibri"/>
                <a:ea typeface="Calibri"/>
                <a:cs typeface="Calibri"/>
              </a:rPr>
              <a:t> and the display device shows it on the screen</a:t>
            </a:r>
          </a:p>
        </p:txBody>
      </p:sp>
    </p:spTree>
    <p:extLst>
      <p:ext uri="{BB962C8B-B14F-4D97-AF65-F5344CB8AC3E}">
        <p14:creationId xmlns:p14="http://schemas.microsoft.com/office/powerpoint/2010/main" val="2775788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47C9FB1-330D-2560-44AA-3D8DF9F0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October 22,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C67FC-2ACB-E431-EC5E-7A4C1B04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26A6C-E1D7-E446-180C-F2FA1CFD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10FCA-F0CA-4138-3CD4-F1683902770C}"/>
              </a:ext>
            </a:extLst>
          </p:cNvPr>
          <p:cNvSpPr txBox="1"/>
          <p:nvPr/>
        </p:nvSpPr>
        <p:spPr>
          <a:xfrm>
            <a:off x="2311244" y="1592847"/>
            <a:ext cx="715704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>
                <a:latin typeface="Aptos Display"/>
              </a:rPr>
              <a:t>TYPES</a:t>
            </a:r>
          </a:p>
          <a:p>
            <a:pPr algn="ctr"/>
            <a:r>
              <a:rPr lang="en-US" sz="6000" b="1">
                <a:latin typeface="Aptos Display"/>
              </a:rPr>
              <a:t> OF</a:t>
            </a:r>
            <a:endParaRPr lang="en-US" sz="6000" b="1" dirty="0">
              <a:latin typeface="Aptos Display"/>
            </a:endParaRPr>
          </a:p>
          <a:p>
            <a:pPr algn="ctr"/>
            <a:r>
              <a:rPr lang="en-US" sz="6000" b="1" dirty="0">
                <a:latin typeface="Aptos Display"/>
              </a:rPr>
              <a:t> </a:t>
            </a:r>
            <a:r>
              <a:rPr lang="en-US" sz="6000" b="1" dirty="0">
                <a:solidFill>
                  <a:srgbClr val="4E9DBA"/>
                </a:solidFill>
                <a:latin typeface="Aptos Display"/>
              </a:rPr>
              <a:t>DISPLAY DEVICES</a:t>
            </a:r>
            <a:endParaRPr lang="en-US" sz="600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494881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DB9C30-2F4F-6DD7-5BDB-EF0B2EF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3082"/>
            <a:ext cx="12188761" cy="68610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6221C9-9DC5-E627-F704-2F2B09CC5BB6}"/>
              </a:ext>
            </a:extLst>
          </p:cNvPr>
          <p:cNvSpPr txBox="1"/>
          <p:nvPr/>
        </p:nvSpPr>
        <p:spPr>
          <a:xfrm>
            <a:off x="975104" y="1379268"/>
            <a:ext cx="42384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(Cathode Ray Tube)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48D5E-F865-B121-D687-140ECFC1AB96}"/>
              </a:ext>
            </a:extLst>
          </p:cNvPr>
          <p:cNvSpPr txBox="1"/>
          <p:nvPr/>
        </p:nvSpPr>
        <p:spPr>
          <a:xfrm>
            <a:off x="981813" y="2152868"/>
            <a:ext cx="627595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Uses electron beams to create images on a phosphor-coated screen.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Bulky and heavy design.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Common in older televisions computers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01F84-4927-2371-135B-25907893C5FF}"/>
              </a:ext>
            </a:extLst>
          </p:cNvPr>
          <p:cNvSpPr txBox="1"/>
          <p:nvPr/>
        </p:nvSpPr>
        <p:spPr>
          <a:xfrm>
            <a:off x="975105" y="451916"/>
            <a:ext cx="628844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4800" b="1"/>
              <a:t>CRT</a:t>
            </a:r>
            <a:r>
              <a:rPr lang="en-IN" sz="4800"/>
              <a:t> </a:t>
            </a:r>
            <a:r>
              <a:rPr lang="en-IN" sz="4800" b="1">
                <a:solidFill>
                  <a:srgbClr val="0070C0"/>
                </a:solidFill>
              </a:rPr>
              <a:t>DISP</a:t>
            </a:r>
            <a:r>
              <a:rPr lang="en-IN" sz="4800" b="1">
                <a:solidFill>
                  <a:srgbClr val="0070C0"/>
                </a:solidFill>
                <a:latin typeface="Neue Haas Grotesk Text Pro"/>
              </a:rPr>
              <a:t>LAYS</a:t>
            </a:r>
            <a:endParaRPr lang="en-US" sz="4800" b="1">
              <a:solidFill>
                <a:srgbClr val="0070C0"/>
              </a:solidFill>
              <a:latin typeface="Neue Haas Grotesk Text Pro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450DB8-3C73-8A1F-7381-12391752A73B}"/>
              </a:ext>
            </a:extLst>
          </p:cNvPr>
          <p:cNvSpPr/>
          <p:nvPr/>
        </p:nvSpPr>
        <p:spPr>
          <a:xfrm>
            <a:off x="936886" y="4420570"/>
            <a:ext cx="2953211" cy="15987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DFF4B8-B3A5-7605-79F1-E2BA052E52D0}"/>
              </a:ext>
            </a:extLst>
          </p:cNvPr>
          <p:cNvSpPr/>
          <p:nvPr/>
        </p:nvSpPr>
        <p:spPr>
          <a:xfrm>
            <a:off x="4414338" y="4417792"/>
            <a:ext cx="3277320" cy="161314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D88DF-8119-798C-733F-35AF735AC809}"/>
              </a:ext>
            </a:extLst>
          </p:cNvPr>
          <p:cNvSpPr txBox="1"/>
          <p:nvPr/>
        </p:nvSpPr>
        <p:spPr>
          <a:xfrm>
            <a:off x="981813" y="4592483"/>
            <a:ext cx="344204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>
                <a:solidFill>
                  <a:srgbClr val="00B0F0"/>
                </a:solidFill>
              </a:rPr>
              <a:t>Advantage:</a:t>
            </a:r>
            <a:endParaRPr lang="en-IN" sz="2400">
              <a:solidFill>
                <a:srgbClr val="00B0F0"/>
              </a:solidFill>
              <a:ea typeface="Source Sans Pro"/>
            </a:endParaRPr>
          </a:p>
          <a:p>
            <a:pPr algn="l"/>
            <a:r>
              <a:rPr lang="en-IN" sz="2400"/>
              <a:t>Good </a:t>
            </a:r>
            <a:r>
              <a:rPr lang="en-IN" sz="2400" err="1"/>
              <a:t>color</a:t>
            </a:r>
            <a:r>
              <a:rPr lang="en-IN" sz="2400"/>
              <a:t> and viewing  angles</a:t>
            </a:r>
            <a:endParaRPr lang="en-US" sz="2400">
              <a:ea typeface="Source Sans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D2E5E-E5F1-B910-61A6-7ACF95C756E8}"/>
              </a:ext>
            </a:extLst>
          </p:cNvPr>
          <p:cNvSpPr txBox="1"/>
          <p:nvPr/>
        </p:nvSpPr>
        <p:spPr>
          <a:xfrm>
            <a:off x="4508964" y="4592482"/>
            <a:ext cx="318269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>
                <a:solidFill>
                  <a:srgbClr val="C00000"/>
                </a:solidFill>
              </a:rPr>
              <a:t>Disadvantage:</a:t>
            </a:r>
            <a:endParaRPr lang="en-IN" sz="2400">
              <a:solidFill>
                <a:srgbClr val="C00000"/>
              </a:solidFill>
              <a:ea typeface="Source Sans Pro"/>
            </a:endParaRPr>
          </a:p>
          <a:p>
            <a:pPr algn="l"/>
            <a:r>
              <a:rPr lang="en-IN" sz="2400"/>
              <a:t>Large size and high in power</a:t>
            </a:r>
            <a:endParaRPr lang="en-US" sz="24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10337481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BAA84F-9FA6-1017-75DA-1480002B7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2"/>
            <a:ext cx="12193854" cy="68480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C383FB-62FD-A95D-B8F3-C7D6BB6C23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817" y="3016745"/>
            <a:ext cx="11985219" cy="38397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CD3A5B-19BF-AED7-1CBA-F85C20A8E8C4}"/>
              </a:ext>
            </a:extLst>
          </p:cNvPr>
          <p:cNvSpPr txBox="1"/>
          <p:nvPr/>
        </p:nvSpPr>
        <p:spPr>
          <a:xfrm>
            <a:off x="5193483" y="240691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2B8D4-0B6D-32EC-4D65-07A9593AFE98}"/>
              </a:ext>
            </a:extLst>
          </p:cNvPr>
          <p:cNvSpPr txBox="1"/>
          <p:nvPr/>
        </p:nvSpPr>
        <p:spPr>
          <a:xfrm>
            <a:off x="403579" y="459140"/>
            <a:ext cx="880266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4800" b="1"/>
              <a:t>LCD AND LED</a:t>
            </a:r>
            <a:r>
              <a:rPr lang="en-IN" sz="4800" b="1">
                <a:solidFill>
                  <a:schemeClr val="accent1"/>
                </a:solidFill>
              </a:rPr>
              <a:t> </a:t>
            </a:r>
            <a:r>
              <a:rPr lang="en-IN" sz="4800" b="1">
                <a:solidFill>
                  <a:srgbClr val="00B0F0"/>
                </a:solidFill>
              </a:rPr>
              <a:t>DISPLAYS</a:t>
            </a:r>
            <a:endParaRPr lang="en-US" sz="4800" b="1">
              <a:solidFill>
                <a:srgbClr val="00B0F0"/>
              </a:solidFill>
              <a:ea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75B90-0904-0604-68F6-A46880EDABCD}"/>
              </a:ext>
            </a:extLst>
          </p:cNvPr>
          <p:cNvSpPr txBox="1"/>
          <p:nvPr/>
        </p:nvSpPr>
        <p:spPr>
          <a:xfrm>
            <a:off x="273371" y="1619881"/>
            <a:ext cx="824102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/>
              <a:t>LCD (liquid crystal Display) uses liquid crystals to control light from a backlight.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LED is usually and LCD </a:t>
            </a:r>
            <a:r>
              <a:rPr lang="en-IN" sz="2400" err="1"/>
              <a:t>pannel</a:t>
            </a:r>
            <a:r>
              <a:rPr lang="en-IN" sz="2400"/>
              <a:t> with LED backlighting (or LED uses directly in larger displays)</a:t>
            </a:r>
            <a:endParaRPr lang="en-US" sz="2400">
              <a:ea typeface="Source Sans Pro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58EE3-0A2A-6D65-6749-0E7821462FAE}"/>
              </a:ext>
            </a:extLst>
          </p:cNvPr>
          <p:cNvSpPr/>
          <p:nvPr/>
        </p:nvSpPr>
        <p:spPr>
          <a:xfrm>
            <a:off x="8506441" y="932347"/>
            <a:ext cx="3474972" cy="1570008"/>
          </a:xfrm>
          <a:prstGeom prst="roundRect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A9183-6297-C010-7ACD-F20D066884F0}"/>
              </a:ext>
            </a:extLst>
          </p:cNvPr>
          <p:cNvSpPr txBox="1"/>
          <p:nvPr/>
        </p:nvSpPr>
        <p:spPr>
          <a:xfrm>
            <a:off x="8635837" y="932347"/>
            <a:ext cx="4776157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 b="1">
                <a:solidFill>
                  <a:srgbClr val="FF0000"/>
                </a:solidFill>
              </a:rPr>
              <a:t>Examples:</a:t>
            </a:r>
            <a:endParaRPr lang="en-IN" sz="2400" b="1">
              <a:solidFill>
                <a:srgbClr val="FF0000"/>
              </a:solidFill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Laptop screens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Monitors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TVs</a:t>
            </a:r>
            <a:endParaRPr lang="en-US" sz="24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85666049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2B4CAB-41AB-3CC6-8F22-AB2AE31DF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62" y="0"/>
            <a:ext cx="1207303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DE2184-732E-C06E-D0EB-A7455D7A9AFC}"/>
              </a:ext>
            </a:extLst>
          </p:cNvPr>
          <p:cNvSpPr txBox="1"/>
          <p:nvPr/>
        </p:nvSpPr>
        <p:spPr>
          <a:xfrm>
            <a:off x="781023" y="603056"/>
            <a:ext cx="522185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4800" b="1"/>
              <a:t>OLED </a:t>
            </a:r>
            <a:r>
              <a:rPr lang="en-IN" sz="4800" b="1">
                <a:solidFill>
                  <a:srgbClr val="00B0F0"/>
                </a:solidFill>
              </a:rPr>
              <a:t>DISPLAYS</a:t>
            </a:r>
            <a:endParaRPr lang="en-IN" sz="4800" b="1">
              <a:solidFill>
                <a:srgbClr val="00B0F0"/>
              </a:solidFill>
              <a:ea typeface="Source Sans Pro"/>
            </a:endParaRPr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FBC63-2C9A-12C0-8C6E-94AB5F00AC26}"/>
              </a:ext>
            </a:extLst>
          </p:cNvPr>
          <p:cNvSpPr txBox="1"/>
          <p:nvPr/>
        </p:nvSpPr>
        <p:spPr>
          <a:xfrm>
            <a:off x="3054970" y="434839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B6289-73ED-5E40-12E9-B5238C2DBFB1}"/>
              </a:ext>
            </a:extLst>
          </p:cNvPr>
          <p:cNvSpPr txBox="1"/>
          <p:nvPr/>
        </p:nvSpPr>
        <p:spPr>
          <a:xfrm>
            <a:off x="3054970" y="89228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04483-A6C4-30A1-CAA6-C10FB0E9E5BF}"/>
              </a:ext>
            </a:extLst>
          </p:cNvPr>
          <p:cNvSpPr txBox="1"/>
          <p:nvPr/>
        </p:nvSpPr>
        <p:spPr>
          <a:xfrm>
            <a:off x="903230" y="1661899"/>
            <a:ext cx="497744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Each pixel produces its own light.</a:t>
            </a:r>
            <a:endParaRPr lang="en-IN" sz="2400"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No backlight needed</a:t>
            </a:r>
            <a:endParaRPr lang="en-IN" sz="2400"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Deeper blacks, higher contrast and vibrant </a:t>
            </a:r>
            <a:r>
              <a:rPr lang="en-IN" sz="2400" err="1"/>
              <a:t>colors</a:t>
            </a:r>
            <a:endParaRPr lang="en-US" sz="2400">
              <a:ea typeface="Source Sans Pro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32FD6D-2420-9622-7D85-0A8DBC6345D5}"/>
              </a:ext>
            </a:extLst>
          </p:cNvPr>
          <p:cNvSpPr/>
          <p:nvPr/>
        </p:nvSpPr>
        <p:spPr>
          <a:xfrm>
            <a:off x="903230" y="4739834"/>
            <a:ext cx="3454043" cy="1529389"/>
          </a:xfrm>
          <a:prstGeom prst="roundRect">
            <a:avLst/>
          </a:prstGeom>
          <a:solidFill>
            <a:schemeClr val="bg2"/>
          </a:solidFill>
          <a:ln>
            <a:solidFill>
              <a:srgbClr val="4E9D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157C7-CDBD-2CF7-99D4-8A2E35C98722}"/>
              </a:ext>
            </a:extLst>
          </p:cNvPr>
          <p:cNvSpPr txBox="1"/>
          <p:nvPr/>
        </p:nvSpPr>
        <p:spPr>
          <a:xfrm>
            <a:off x="1131137" y="4916194"/>
            <a:ext cx="2978989" cy="1631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 b="1">
                <a:solidFill>
                  <a:srgbClr val="FF0000"/>
                </a:solidFill>
              </a:rPr>
              <a:t>Example</a:t>
            </a:r>
            <a:r>
              <a:rPr lang="en-IN" sz="2400"/>
              <a:t>: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Smartphones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Premium TVs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05726477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974AAD-A4BB-41D4-A6BB-37D8DC15E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05631E-6188-6F18-AC94-22DB242D6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503" y="388800"/>
            <a:ext cx="4420696" cy="57354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BCDAFD-E109-10E5-9C56-BDE977405C36}"/>
              </a:ext>
            </a:extLst>
          </p:cNvPr>
          <p:cNvSpPr txBox="1"/>
          <p:nvPr/>
        </p:nvSpPr>
        <p:spPr>
          <a:xfrm>
            <a:off x="340519" y="486785"/>
            <a:ext cx="428157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ea typeface="Source Sans Pro"/>
              </a:rPr>
              <a:t>Proje</a:t>
            </a:r>
            <a:r>
              <a:rPr lang="en-US" sz="4800" b="1">
                <a:solidFill>
                  <a:srgbClr val="00B0F0"/>
                </a:solidFill>
                <a:ea typeface="Source Sans Pro"/>
              </a:rPr>
              <a:t>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4DA4C-B8AF-A9CD-995F-80A6E3530F85}"/>
              </a:ext>
            </a:extLst>
          </p:cNvPr>
          <p:cNvSpPr txBox="1"/>
          <p:nvPr/>
        </p:nvSpPr>
        <p:spPr>
          <a:xfrm>
            <a:off x="335599" y="1593203"/>
            <a:ext cx="469852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ea typeface="Source Sans Pro"/>
              </a:rPr>
              <a:t>Uses light source and lens to project an image onto separate surfaces.</a:t>
            </a:r>
          </a:p>
          <a:p>
            <a:pPr marL="342900" indent="-342900">
              <a:buFont typeface="Arial"/>
              <a:buChar char="•"/>
            </a:pPr>
            <a:endParaRPr lang="en-US" sz="24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Source Sans Pro"/>
              </a:rPr>
              <a:t>Can display larger images.</a:t>
            </a:r>
          </a:p>
          <a:p>
            <a:pPr marL="342900" indent="-342900">
              <a:buFont typeface="Arial"/>
              <a:buChar char="•"/>
            </a:pPr>
            <a:endParaRPr lang="en-US" sz="24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Source Sans Pro"/>
              </a:rPr>
              <a:t>Common in classrooms, cinemas and conference rooms.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1793C-A9E0-08D2-5A64-0EDDF35A9A12}"/>
              </a:ext>
            </a:extLst>
          </p:cNvPr>
          <p:cNvSpPr txBox="1"/>
          <p:nvPr/>
        </p:nvSpPr>
        <p:spPr>
          <a:xfrm>
            <a:off x="627684" y="5328249"/>
            <a:ext cx="44253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rgbClr val="FF0000"/>
                </a:solidFill>
                <a:ea typeface="Source Sans Pro"/>
              </a:rPr>
              <a:t>Examples:</a:t>
            </a:r>
          </a:p>
          <a:p>
            <a:r>
              <a:rPr lang="en-US" sz="2400" b="1">
                <a:ea typeface="Source Sans Pro"/>
              </a:rPr>
              <a:t>Classrooms, cinemas and offices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D655A2-08EF-09FF-C90A-982198384439}"/>
              </a:ext>
            </a:extLst>
          </p:cNvPr>
          <p:cNvSpPr/>
          <p:nvPr/>
        </p:nvSpPr>
        <p:spPr>
          <a:xfrm>
            <a:off x="501226" y="5253615"/>
            <a:ext cx="4112116" cy="1326486"/>
          </a:xfrm>
          <a:prstGeom prst="roundRect">
            <a:avLst/>
          </a:prstGeom>
          <a:noFill/>
          <a:ln>
            <a:solidFill>
              <a:srgbClr val="4E9D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4969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5D41E9-2A6F-D271-08AD-C07CD8AF5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00" y="0"/>
            <a:ext cx="121966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49EC33-2E4C-8521-AD09-38C03F6E5DCA}"/>
              </a:ext>
            </a:extLst>
          </p:cNvPr>
          <p:cNvSpPr txBox="1"/>
          <p:nvPr/>
        </p:nvSpPr>
        <p:spPr>
          <a:xfrm>
            <a:off x="2479487" y="1408853"/>
            <a:ext cx="699889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>
                <a:latin typeface="Aptos Display"/>
              </a:rPr>
              <a:t>DISPLAY DEVICES I</a:t>
            </a:r>
            <a:r>
              <a:rPr lang="en-US" sz="6000" b="1">
                <a:solidFill>
                  <a:srgbClr val="00B0F0"/>
                </a:solidFill>
                <a:latin typeface="Aptos Display"/>
              </a:rPr>
              <a:t>N</a:t>
            </a:r>
            <a:endParaRPr lang="en-US">
              <a:solidFill>
                <a:srgbClr val="00B0F0"/>
              </a:solidFill>
            </a:endParaRPr>
          </a:p>
          <a:p>
            <a:pPr algn="ctr"/>
            <a:r>
              <a:rPr lang="en-US" sz="6000" b="1">
                <a:solidFill>
                  <a:srgbClr val="00B0F0"/>
                </a:solidFill>
                <a:latin typeface="Aptos Display"/>
              </a:rPr>
              <a:t>EVERYDAY LIFE</a:t>
            </a:r>
            <a:endParaRPr 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6295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1BFE4-7E2C-C3CA-9355-E2C331ED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DC3B023-6268-9156-DBF3-DA84E2978267}"/>
              </a:ext>
            </a:extLst>
          </p:cNvPr>
          <p:cNvSpPr/>
          <p:nvPr/>
        </p:nvSpPr>
        <p:spPr>
          <a:xfrm>
            <a:off x="10724747" y="9683"/>
            <a:ext cx="1138216" cy="1421597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002060"/>
              </a:solidFill>
              <a:ea typeface="Source Sans Pro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A7CFF8-0D91-7AF2-4F59-8CD4DFD9DDD1}"/>
              </a:ext>
            </a:extLst>
          </p:cNvPr>
          <p:cNvGrpSpPr/>
          <p:nvPr/>
        </p:nvGrpSpPr>
        <p:grpSpPr>
          <a:xfrm>
            <a:off x="-3872" y="4695"/>
            <a:ext cx="11306001" cy="6872376"/>
            <a:chOff x="-3872" y="-9682"/>
            <a:chExt cx="11306001" cy="68723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59883D-B07C-C703-EBF0-C123886B0D7A}"/>
                </a:ext>
              </a:extLst>
            </p:cNvPr>
            <p:cNvSpPr/>
            <p:nvPr/>
          </p:nvSpPr>
          <p:spPr>
            <a:xfrm>
              <a:off x="-3872" y="-9682"/>
              <a:ext cx="11306001" cy="6872376"/>
            </a:xfrm>
            <a:prstGeom prst="rect">
              <a:avLst/>
            </a:prstGeom>
            <a:solidFill>
              <a:srgbClr val="080F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663C0C-56FA-385E-3C8E-501B49FBE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6" t="10396" r="-1016" b="29051"/>
            <a:stretch>
              <a:fillRect/>
            </a:stretch>
          </p:blipFill>
          <p:spPr>
            <a:xfrm>
              <a:off x="6689893" y="270778"/>
              <a:ext cx="3717185" cy="5983064"/>
            </a:xfrm>
            <a:prstGeom prst="roundRect">
              <a:avLst>
                <a:gd name="adj" fmla="val 4167"/>
              </a:avLst>
            </a:prstGeom>
            <a:solidFill>
              <a:srgbClr val="080F1C"/>
            </a:solidFill>
            <a:ln w="76200" cap="sq">
              <a:solidFill>
                <a:srgbClr val="292929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454BAB-B033-ABBA-9E60-4025D2526E41}"/>
                </a:ext>
              </a:extLst>
            </p:cNvPr>
            <p:cNvSpPr txBox="1"/>
            <p:nvPr/>
          </p:nvSpPr>
          <p:spPr>
            <a:xfrm>
              <a:off x="778959" y="1940473"/>
              <a:ext cx="3390181" cy="1107996"/>
            </a:xfrm>
            <a:prstGeom prst="rect">
              <a:avLst/>
            </a:prstGeom>
            <a:solidFill>
              <a:srgbClr val="080F1C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600" b="1">
                  <a:latin typeface="Aptos Display"/>
                  <a:ea typeface="Calibri"/>
                  <a:cs typeface="Calibri"/>
                </a:rPr>
                <a:t>OFF</a:t>
              </a:r>
              <a:r>
                <a:rPr lang="en-US" sz="6600" b="1">
                  <a:solidFill>
                    <a:srgbClr val="0070C0"/>
                  </a:solidFill>
                  <a:latin typeface="Aptos Display"/>
                  <a:ea typeface="Calibri"/>
                  <a:cs typeface="Calibri"/>
                </a:rPr>
                <a:t>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51736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C0F190-36BB-BD9D-CEE1-A36A1F913A7F}"/>
              </a:ext>
            </a:extLst>
          </p:cNvPr>
          <p:cNvSpPr/>
          <p:nvPr/>
        </p:nvSpPr>
        <p:spPr>
          <a:xfrm>
            <a:off x="-202115" y="-831"/>
            <a:ext cx="11298302" cy="6852503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EF1B01AE-B5D7-8F79-FBFA-4507B6937C5F}"/>
              </a:ext>
            </a:extLst>
          </p:cNvPr>
          <p:cNvSpPr/>
          <p:nvPr/>
        </p:nvSpPr>
        <p:spPr>
          <a:xfrm>
            <a:off x="10595092" y="831"/>
            <a:ext cx="1018234" cy="1446488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9993E4-463C-B658-167A-CDC40BCAD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" t="18251" b="18129"/>
          <a:stretch>
            <a:fillRect/>
          </a:stretch>
        </p:blipFill>
        <p:spPr>
          <a:xfrm>
            <a:off x="6638598" y="134640"/>
            <a:ext cx="3696015" cy="62202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44499F-F148-358F-1DDF-1BB9C878DABF}"/>
              </a:ext>
            </a:extLst>
          </p:cNvPr>
          <p:cNvSpPr txBox="1"/>
          <p:nvPr/>
        </p:nvSpPr>
        <p:spPr>
          <a:xfrm>
            <a:off x="899577" y="1897364"/>
            <a:ext cx="553962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latin typeface="Aptos Display"/>
                <a:ea typeface="Source Sans Pro"/>
              </a:rPr>
              <a:t>PUBLIC 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301948957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F5261C-6C2E-1371-4B09-08EA0D893C8D}"/>
              </a:ext>
            </a:extLst>
          </p:cNvPr>
          <p:cNvSpPr/>
          <p:nvPr/>
        </p:nvSpPr>
        <p:spPr>
          <a:xfrm>
            <a:off x="13546" y="13546"/>
            <a:ext cx="11054080" cy="686816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F42036C-0A14-DB8B-DEED-B2DF70C69355}"/>
              </a:ext>
            </a:extLst>
          </p:cNvPr>
          <p:cNvSpPr/>
          <p:nvPr/>
        </p:nvSpPr>
        <p:spPr>
          <a:xfrm>
            <a:off x="10485823" y="5560"/>
            <a:ext cx="1164757" cy="1566748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5AE2A-9EE0-CCB4-6FD1-037916982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8" t="20295" r="7569" b="28084"/>
          <a:stretch>
            <a:fillRect/>
          </a:stretch>
        </p:blipFill>
        <p:spPr>
          <a:xfrm>
            <a:off x="6691976" y="224679"/>
            <a:ext cx="3580998" cy="62633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DEAB8C-3B21-E9C4-F2D7-FD7BEB74A25D}"/>
              </a:ext>
            </a:extLst>
          </p:cNvPr>
          <p:cNvSpPr txBox="1"/>
          <p:nvPr/>
        </p:nvSpPr>
        <p:spPr>
          <a:xfrm>
            <a:off x="441608" y="2110787"/>
            <a:ext cx="648131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latin typeface="Aptos Display"/>
                <a:ea typeface="Source Sans Pro"/>
              </a:rPr>
              <a:t>ENTER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TAINMENT</a:t>
            </a:r>
          </a:p>
        </p:txBody>
      </p:sp>
    </p:spTree>
    <p:extLst>
      <p:ext uri="{BB962C8B-B14F-4D97-AF65-F5344CB8AC3E}">
        <p14:creationId xmlns:p14="http://schemas.microsoft.com/office/powerpoint/2010/main" val="423494188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F521E7-2F4F-F91A-2FE8-D121F736A38B}"/>
              </a:ext>
            </a:extLst>
          </p:cNvPr>
          <p:cNvSpPr/>
          <p:nvPr/>
        </p:nvSpPr>
        <p:spPr>
          <a:xfrm>
            <a:off x="-830" y="-831"/>
            <a:ext cx="10988837" cy="6863176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347E0DD-AE91-08A2-BCB5-A8AF5DFC5A46}"/>
              </a:ext>
            </a:extLst>
          </p:cNvPr>
          <p:cNvSpPr/>
          <p:nvPr/>
        </p:nvSpPr>
        <p:spPr>
          <a:xfrm>
            <a:off x="10611704" y="6454"/>
            <a:ext cx="766344" cy="1423804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1837FA-EF3C-D817-646D-34AB72827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" t="8313" r="24315" b="28070"/>
          <a:stretch>
            <a:fillRect/>
          </a:stretch>
        </p:blipFill>
        <p:spPr>
          <a:xfrm>
            <a:off x="6765587" y="260463"/>
            <a:ext cx="3624129" cy="632269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246FA-D833-3819-62EB-BD94C570BAFF}"/>
              </a:ext>
            </a:extLst>
          </p:cNvPr>
          <p:cNvSpPr txBox="1"/>
          <p:nvPr/>
        </p:nvSpPr>
        <p:spPr>
          <a:xfrm>
            <a:off x="522121" y="1985033"/>
            <a:ext cx="55755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latin typeface="Aptos Display"/>
                <a:ea typeface="Source Sans Pro"/>
              </a:rPr>
              <a:t>HEALTH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CARE</a:t>
            </a:r>
          </a:p>
        </p:txBody>
      </p:sp>
    </p:spTree>
    <p:extLst>
      <p:ext uri="{BB962C8B-B14F-4D97-AF65-F5344CB8AC3E}">
        <p14:creationId xmlns:p14="http://schemas.microsoft.com/office/powerpoint/2010/main" val="136925190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18DF68-75F8-36AD-1E7F-A24D6CAAC4C0}"/>
              </a:ext>
            </a:extLst>
          </p:cNvPr>
          <p:cNvSpPr/>
          <p:nvPr/>
        </p:nvSpPr>
        <p:spPr>
          <a:xfrm>
            <a:off x="-314641" y="-3322"/>
            <a:ext cx="11363992" cy="6860427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1229FF89-74CB-9DFB-7353-1FAA44706B4D}"/>
              </a:ext>
            </a:extLst>
          </p:cNvPr>
          <p:cNvSpPr/>
          <p:nvPr/>
        </p:nvSpPr>
        <p:spPr>
          <a:xfrm>
            <a:off x="10520456" y="-2557"/>
            <a:ext cx="1082646" cy="1487385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18207-B01F-4920-1E61-E7FF4EB82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34" t="926" r="-1601" b="35457"/>
          <a:stretch>
            <a:fillRect/>
          </a:stretch>
        </p:blipFill>
        <p:spPr>
          <a:xfrm>
            <a:off x="6733801" y="238900"/>
            <a:ext cx="3688680" cy="63802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9F87D6-FCB2-8541-2F03-9548614D5D14}"/>
              </a:ext>
            </a:extLst>
          </p:cNvPr>
          <p:cNvSpPr txBox="1"/>
          <p:nvPr/>
        </p:nvSpPr>
        <p:spPr>
          <a:xfrm>
            <a:off x="448126" y="1985353"/>
            <a:ext cx="564742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latin typeface="Aptos Display"/>
                <a:ea typeface="Source Sans Pro"/>
              </a:rPr>
              <a:t>EDUCA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TION</a:t>
            </a:r>
          </a:p>
        </p:txBody>
      </p:sp>
    </p:spTree>
    <p:extLst>
      <p:ext uri="{BB962C8B-B14F-4D97-AF65-F5344CB8AC3E}">
        <p14:creationId xmlns:p14="http://schemas.microsoft.com/office/powerpoint/2010/main" val="169670104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81212-BF9A-C28A-AFA5-1389D62E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Thursday, October 22,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67EC5-F528-AD31-E350-80FE2148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B7259-8C41-1CD9-A8BD-3717D214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49403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701BF-9889-F1BA-BDDE-C35007EA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19854-92C6-BE68-1331-8B52DC335FEF}"/>
              </a:ext>
            </a:extLst>
          </p:cNvPr>
          <p:cNvSpPr txBox="1"/>
          <p:nvPr/>
        </p:nvSpPr>
        <p:spPr>
          <a:xfrm>
            <a:off x="3161499" y="2455259"/>
            <a:ext cx="630878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>
                <a:latin typeface="Aptos Display"/>
              </a:rPr>
              <a:t>THANK</a:t>
            </a:r>
            <a:r>
              <a:rPr lang="en-US" sz="9600" b="1">
                <a:solidFill>
                  <a:srgbClr val="00B0F0"/>
                </a:solidFill>
                <a:latin typeface="Aptos Display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9705790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Nowreen Naaz</dc:creator>
  <cp:lastModifiedBy>Nowreen Naaz</cp:lastModifiedBy>
  <cp:revision>2</cp:revision>
  <dcterms:created xsi:type="dcterms:W3CDTF">2026-10-15T19:01:44Z</dcterms:created>
  <dcterms:modified xsi:type="dcterms:W3CDTF">2026-10-22T16:29:15Z</dcterms:modified>
</cp:coreProperties>
</file>